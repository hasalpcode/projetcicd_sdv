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abce3e4-116a-5924-f244-f6f7c1e95705}">
          <p14:sldIdLst>
            <p14:sldId id="256"/>
            <p14:sldId id="257"/>
          </p14:sldIdLst>
        </p14:section>
        <p14:section name="Architecture" id="{2d5c181e-774b-c339-899c-8dc05fd9d8c7}">
          <p14:sldIdLst>
            <p14:sldId id="258"/>
          </p14:sldIdLst>
        </p14:section>
        <p14:section name="Pipeline CI" id="{a5ebf7c6-ad33-23f1-9d41-ddb173e74315}">
          <p14:sldIdLst>
            <p14:sldId id="259"/>
            <p14:sldId id="260"/>
          </p14:sldIdLst>
        </p14:section>
        <p14:section name="GitOps &amp; CD" id="{c737ab9d-f31f-9046-ec73-3881bad425da}">
          <p14:sldIdLst>
            <p14:sldId id="261"/>
            <p14:sldId id="262"/>
            <p14:sldId id="263"/>
            <p14:sldId id="264"/>
          </p14:sldIdLst>
        </p14:section>
        <p14:section name="Démo &amp; Conclusion" id="{990be456-4790-ad2d-0b5d-b793a80cd393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96926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0332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CI/CD SDV — Todo App Fullstack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969264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 CI/CD — Todo App Fullstack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0332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de 15 minutes : pipelines CI, qualité, sécurité et livraison GitOps avec ArgoCD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Mamadou Hachimiou Diallo</a:t>
            </a:r>
            <a:pPr indent="0" marL="0">
              <a:buNone/>
            </a:pPr>
            <a:r>
              <a:rPr lang="en-US" sz="1400" dirty="0">
                <a:solidFill>
                  <a:srgbClr val="6B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Sadio Diallo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CI/CD — SUP de Vinci</a:t>
            </a:r>
            <a:endParaRPr lang="en-US" sz="1100" dirty="0"/>
          </a:p>
        </p:txBody>
      </p:sp>
      <p:sp>
        <p:nvSpPr>
          <p:cNvPr id="6" name="icon-circle"/>
          <p:cNvSpPr/>
          <p:nvPr/>
        </p:nvSpPr>
        <p:spPr>
          <a:xfrm>
            <a:off x="9646920" y="59436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4664" y="832104"/>
            <a:ext cx="576072" cy="576072"/>
          </a:xfrm>
          <a:prstGeom prst="rect">
            <a:avLst/>
          </a:prstGeom>
        </p:spPr>
      </p:pic>
      <p:sp>
        <p:nvSpPr>
          <p:cNvPr id="8" name="icon-circle"/>
          <p:cNvSpPr/>
          <p:nvPr/>
        </p:nvSpPr>
        <p:spPr>
          <a:xfrm>
            <a:off x="10927080" y="1508760"/>
            <a:ext cx="914400" cy="914400"/>
          </a:xfrm>
          <a:prstGeom prst="ellipse">
            <a:avLst/>
          </a:prstGeom>
          <a:solidFill>
            <a:srgbClr val="F6AE2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4824" y="1746504"/>
            <a:ext cx="438912" cy="438912"/>
          </a:xfrm>
          <a:prstGeom prst="rect">
            <a:avLst/>
          </a:prstGeom>
        </p:spPr>
      </p:pic>
      <p:sp>
        <p:nvSpPr>
          <p:cNvPr id="10" name="icon-circle"/>
          <p:cNvSpPr/>
          <p:nvPr/>
        </p:nvSpPr>
        <p:spPr>
          <a:xfrm>
            <a:off x="9418320" y="2331720"/>
            <a:ext cx="868680" cy="868680"/>
          </a:xfrm>
          <a:prstGeom prst="ellipse">
            <a:avLst/>
          </a:prstGeom>
          <a:solidFill>
            <a:srgbClr val="16425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569464"/>
            <a:ext cx="393192" cy="393192"/>
          </a:xfrm>
          <a:prstGeom prst="rect">
            <a:avLst/>
          </a:prstGeom>
        </p:spPr>
      </p:pic>
      <p:sp>
        <p:nvSpPr>
          <p:cNvPr id="12" name="icon-circle"/>
          <p:cNvSpPr/>
          <p:nvPr/>
        </p:nvSpPr>
        <p:spPr>
          <a:xfrm>
            <a:off x="10607040" y="3063240"/>
            <a:ext cx="1005840" cy="1005840"/>
          </a:xfrm>
          <a:prstGeom prst="ellipse">
            <a:avLst/>
          </a:prstGeom>
          <a:solidFill>
            <a:srgbClr val="3BA99C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4784" y="3300984"/>
            <a:ext cx="530352" cy="530352"/>
          </a:xfrm>
          <a:prstGeom prst="rect">
            <a:avLst/>
          </a:prstGeom>
        </p:spPr>
      </p:pic>
      <p:sp>
        <p:nvSpPr>
          <p:cNvPr id="14" name="icon-circle"/>
          <p:cNvSpPr/>
          <p:nvPr/>
        </p:nvSpPr>
        <p:spPr>
          <a:xfrm>
            <a:off x="9692640" y="3977640"/>
            <a:ext cx="822960" cy="82296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0384" y="421538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démo (15 minutes)</a:t>
            </a:r>
            <a:endParaRPr lang="en-US" sz="3000" dirty="0"/>
          </a:p>
        </p:txBody>
      </p:sp>
      <p:sp>
        <p:nvSpPr>
          <p:cNvPr id="3" name="icon-circle"/>
          <p:cNvSpPr/>
          <p:nvPr/>
        </p:nvSpPr>
        <p:spPr>
          <a:xfrm>
            <a:off x="640080" y="14173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292608" cy="292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41732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fullstack &amp; composants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0195560" y="1481328"/>
            <a:ext cx="1371600" cy="43891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195560" y="14813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00" dirty="0"/>
          </a:p>
        </p:txBody>
      </p:sp>
      <p:sp>
        <p:nvSpPr>
          <p:cNvPr id="8" name="icon-circle"/>
          <p:cNvSpPr/>
          <p:nvPr/>
        </p:nvSpPr>
        <p:spPr>
          <a:xfrm>
            <a:off x="640080" y="2203704"/>
            <a:ext cx="566928" cy="566928"/>
          </a:xfrm>
          <a:prstGeom prst="ellipse">
            <a:avLst/>
          </a:prstGeom>
          <a:solidFill>
            <a:srgbClr val="0A3D6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40864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203704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CI — Jenkins (back) &amp; GitHub Actions (front)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10195560" y="2267712"/>
            <a:ext cx="1371600" cy="438912"/>
          </a:xfrm>
          <a:prstGeom prst="roundRect">
            <a:avLst>
              <a:gd name="adj" fmla="val 50000"/>
            </a:avLst>
          </a:prstGeom>
          <a:solidFill>
            <a:srgbClr val="0A3D6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0195560" y="226771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100" dirty="0"/>
          </a:p>
        </p:txBody>
      </p:sp>
      <p:sp>
        <p:nvSpPr>
          <p:cNvPr id="13" name="icon-circle"/>
          <p:cNvSpPr/>
          <p:nvPr/>
        </p:nvSpPr>
        <p:spPr>
          <a:xfrm>
            <a:off x="640080" y="2990088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2724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17320" y="299008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&amp; sécurité — SonarCloud et Trivy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10195560" y="3054096"/>
            <a:ext cx="1371600" cy="438912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10195560" y="305409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00" dirty="0"/>
          </a:p>
        </p:txBody>
      </p:sp>
      <p:sp>
        <p:nvSpPr>
          <p:cNvPr id="18" name="icon-circle"/>
          <p:cNvSpPr/>
          <p:nvPr/>
        </p:nvSpPr>
        <p:spPr>
          <a:xfrm>
            <a:off x="640080" y="3776472"/>
            <a:ext cx="566928" cy="566928"/>
          </a:xfrm>
          <a:prstGeom prst="ellipse">
            <a:avLst/>
          </a:prstGeom>
          <a:solidFill>
            <a:srgbClr val="16425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913632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17320" y="37764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continue GitOps avec ArgoCD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10195560" y="3840480"/>
            <a:ext cx="1371600" cy="438912"/>
          </a:xfrm>
          <a:prstGeom prst="roundRect">
            <a:avLst>
              <a:gd name="adj" fmla="val 50000"/>
            </a:avLst>
          </a:prstGeom>
          <a:solidFill>
            <a:srgbClr val="16425B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10195560" y="38404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100" dirty="0"/>
          </a:p>
        </p:txBody>
      </p:sp>
      <p:sp>
        <p:nvSpPr>
          <p:cNvPr id="23" name="icon-circle"/>
          <p:cNvSpPr/>
          <p:nvPr/>
        </p:nvSpPr>
        <p:spPr>
          <a:xfrm>
            <a:off x="640080" y="4562856"/>
            <a:ext cx="566928" cy="566928"/>
          </a:xfrm>
          <a:prstGeom prst="ellipse">
            <a:avLst/>
          </a:prstGeom>
          <a:solidFill>
            <a:srgbClr val="3BA99C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700016"/>
            <a:ext cx="292608" cy="2926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17320" y="4562856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vs Prod — la bascule manuelle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10195560" y="4626864"/>
            <a:ext cx="1371600" cy="438912"/>
          </a:xfrm>
          <a:prstGeom prst="roundRect">
            <a:avLst>
              <a:gd name="adj" fmla="val 50000"/>
            </a:avLst>
          </a:prstGeom>
          <a:solidFill>
            <a:srgbClr val="3BA99C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10195560" y="462686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00" dirty="0"/>
          </a:p>
        </p:txBody>
      </p:sp>
      <p:sp>
        <p:nvSpPr>
          <p:cNvPr id="28" name="icon-circle"/>
          <p:cNvSpPr/>
          <p:nvPr/>
        </p:nvSpPr>
        <p:spPr>
          <a:xfrm>
            <a:off x="640080" y="5349240"/>
            <a:ext cx="566928" cy="566928"/>
          </a:xfrm>
          <a:prstGeom prst="ellipse">
            <a:avLst/>
          </a:prstGeom>
          <a:solidFill>
            <a:srgbClr val="F6AE2D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486400"/>
            <a:ext cx="292608" cy="29260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417320" y="534924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live de bout en bout + questions</a:t>
            </a:r>
            <a:endParaRPr lang="en-US" sz="1500" dirty="0"/>
          </a:p>
        </p:txBody>
      </p:sp>
      <p:sp>
        <p:nvSpPr>
          <p:cNvPr id="31" name="Shape 23"/>
          <p:cNvSpPr/>
          <p:nvPr/>
        </p:nvSpPr>
        <p:spPr>
          <a:xfrm>
            <a:off x="10195560" y="5413248"/>
            <a:ext cx="1371600" cy="438912"/>
          </a:xfrm>
          <a:prstGeom prst="roundRect">
            <a:avLst>
              <a:gd name="adj" fmla="val 50000"/>
            </a:avLst>
          </a:prstGeom>
          <a:solidFill>
            <a:srgbClr val="F6AE2D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10195560" y="541324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application fullstack, trois services conteneurisés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6400800" cy="914400"/>
          </a:xfrm>
          <a:prstGeom prst="roundRect">
            <a:avLst>
              <a:gd name="adj" fmla="val 7000"/>
            </a:avLst>
          </a:prstGeom>
          <a:solidFill>
            <a:srgbClr val="0A3D6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13232" y="1417320"/>
            <a:ext cx="6254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todo-front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21 + Nginx  ·  NodePort 30081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0" y="2331720"/>
            <a:ext cx="0" cy="41148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3977640" y="2350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GET/POST  /api/*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6400800" cy="914400"/>
          </a:xfrm>
          <a:prstGeom prst="roundRect">
            <a:avLst>
              <a:gd name="adj" fmla="val 7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2743200"/>
            <a:ext cx="6254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todo-api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(Java 21)  ·  NodePort 30080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0" y="3657600"/>
            <a:ext cx="0" cy="411480"/>
          </a:xfrm>
          <a:prstGeom prst="line">
            <a:avLst/>
          </a:prstGeom>
          <a:noFill/>
          <a:ln w="28575">
            <a:solidFill>
              <a:srgbClr val="16425B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3977640" y="36758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 :3306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069080"/>
            <a:ext cx="6400800" cy="914400"/>
          </a:xfrm>
          <a:prstGeom prst="roundRect">
            <a:avLst>
              <a:gd name="adj" fmla="val 7000"/>
            </a:avLst>
          </a:prstGeom>
          <a:solidFill>
            <a:srgbClr val="16425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4069080"/>
            <a:ext cx="6254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mysql-db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 ·  volume persistant (PVC 1Gi)</a:t>
            </a:r>
            <a:endParaRPr lang="en-US" sz="1300" dirty="0"/>
          </a:p>
        </p:txBody>
      </p:sp>
      <p:sp>
        <p:nvSpPr>
          <p:cNvPr id="13" name="icon-circle"/>
          <p:cNvSpPr/>
          <p:nvPr/>
        </p:nvSpPr>
        <p:spPr>
          <a:xfrm>
            <a:off x="7360920" y="1508760"/>
            <a:ext cx="731520" cy="731520"/>
          </a:xfrm>
          <a:prstGeom prst="ellipse">
            <a:avLst/>
          </a:prstGeom>
          <a:solidFill>
            <a:srgbClr val="EAF2F5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4" y="1655064"/>
            <a:ext cx="438912" cy="43891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360920" y="28346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48" y="2944368"/>
            <a:ext cx="512064" cy="51206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7360920" y="4160520"/>
            <a:ext cx="731520" cy="731520"/>
          </a:xfrm>
          <a:prstGeom prst="ellipse">
            <a:avLst/>
          </a:prstGeom>
          <a:solidFill>
            <a:srgbClr val="16425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48" y="4270248"/>
            <a:ext cx="512064" cy="51206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543800" y="1417320"/>
            <a:ext cx="4069080" cy="1371600"/>
          </a:xfrm>
          <a:prstGeom prst="roundRect">
            <a:avLst>
              <a:gd name="adj" fmla="val 5333"/>
            </a:avLst>
          </a:prstGeom>
          <a:solidFill>
            <a:srgbClr val="EAF2F5"/>
          </a:solidFill>
          <a:ln/>
          <a:effectLst>
            <a:outerShdw sx="100000" sy="100000" kx="0" ky="0" algn="bl" rotWithShape="0" blurRad="76200" dist="25400" dir="5400000">
              <a:srgbClr val="16425B">
                <a:alpha val="18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7744968" y="1417320"/>
            <a:ext cx="3666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Nginx  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front appelle une URL relative (/api/todos). Nginx la relaie vers le Service interne todo-api:8080 — même image front dans tous les environnements.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7543800" y="2971800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EAF2F5"/>
          </a:solidFill>
          <a:ln/>
          <a:effectLst>
            <a:outerShdw sx="100000" sy="100000" kx="0" ky="0" algn="bl" rotWithShape="0" blurRad="76200" dist="25400" dir="5400000">
              <a:srgbClr val="16425B">
                <a:alpha val="18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7744968" y="2971800"/>
            <a:ext cx="3666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 serve en local  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proxy.conf.json redirige /api vers localhost:8080, pour garder la même URL relative en dev sans cluster.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7543800" y="4343400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FDF1DC"/>
          </a:solidFill>
          <a:ln/>
          <a:effectLst>
            <a:outerShdw sx="100000" sy="100000" kx="0" ky="0" algn="bl" rotWithShape="0" blurRad="76200" dist="25400" dir="5400000">
              <a:srgbClr val="16425B">
                <a:alpha val="18000"/>
              </a:srgbClr>
            </a:outerShdw>
          </a:effectLst>
        </p:spPr>
      </p:sp>
      <p:sp>
        <p:nvSpPr>
          <p:cNvPr id="24" name="Text 19"/>
          <p:cNvSpPr txBox="1"/>
          <p:nvPr/>
        </p:nvSpPr>
        <p:spPr>
          <a:xfrm>
            <a:off x="7744968" y="4343400"/>
            <a:ext cx="3666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pipelines, 2 images  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et back sont packagés, scannés et déployés indépendamment, mais suivent le même modèle CI/CD.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pipelines CI, un même modèle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0A3D6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56232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1792" y="240487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697480" y="1783080"/>
            <a:ext cx="1178270" cy="91440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/>
        </p:spPr>
      </p:sp>
      <p:sp>
        <p:nvSpPr>
          <p:cNvPr id="7" name="Shape 4"/>
          <p:cNvSpPr/>
          <p:nvPr/>
        </p:nvSpPr>
        <p:spPr>
          <a:xfrm>
            <a:off x="3140311" y="1527048"/>
            <a:ext cx="292608" cy="292608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140311" y="1527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2743200" y="1837944"/>
            <a:ext cx="10868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 garde anti-boucle)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889466" y="2240280"/>
            <a:ext cx="137160" cy="0"/>
          </a:xfrm>
          <a:prstGeom prst="line">
            <a:avLst/>
          </a:prstGeom>
          <a:noFill/>
          <a:ln w="15875">
            <a:solidFill>
              <a:srgbClr val="5B6B74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040342" y="1783080"/>
            <a:ext cx="1178270" cy="91440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/>
        </p:spPr>
      </p:sp>
      <p:sp>
        <p:nvSpPr>
          <p:cNvPr id="12" name="Shape 9"/>
          <p:cNvSpPr/>
          <p:nvPr/>
        </p:nvSpPr>
        <p:spPr>
          <a:xfrm>
            <a:off x="4483173" y="1527048"/>
            <a:ext cx="292608" cy="292608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483173" y="1527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086062" y="1837944"/>
            <a:ext cx="10868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Package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(Maven)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232327" y="2240280"/>
            <a:ext cx="137160" cy="0"/>
          </a:xfrm>
          <a:prstGeom prst="line">
            <a:avLst/>
          </a:prstGeom>
          <a:noFill/>
          <a:ln w="15875">
            <a:solidFill>
              <a:srgbClr val="5B6B74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383203" y="1783080"/>
            <a:ext cx="1178270" cy="91440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/>
        </p:spPr>
      </p:sp>
      <p:sp>
        <p:nvSpPr>
          <p:cNvPr id="17" name="Shape 14"/>
          <p:cNvSpPr/>
          <p:nvPr/>
        </p:nvSpPr>
        <p:spPr>
          <a:xfrm>
            <a:off x="5826034" y="1527048"/>
            <a:ext cx="292608" cy="292608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826034" y="1527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28923" y="1837944"/>
            <a:ext cx="10868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SonarCloud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575189" y="2240280"/>
            <a:ext cx="137160" cy="0"/>
          </a:xfrm>
          <a:prstGeom prst="line">
            <a:avLst/>
          </a:prstGeom>
          <a:noFill/>
          <a:ln w="15875">
            <a:solidFill>
              <a:srgbClr val="5B6B74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6726065" y="1783080"/>
            <a:ext cx="1178270" cy="91440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/>
        </p:spPr>
      </p:sp>
      <p:sp>
        <p:nvSpPr>
          <p:cNvPr id="22" name="Shape 19"/>
          <p:cNvSpPr/>
          <p:nvPr/>
        </p:nvSpPr>
        <p:spPr>
          <a:xfrm>
            <a:off x="7168896" y="1527048"/>
            <a:ext cx="292608" cy="292608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168896" y="1527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771785" y="1837944"/>
            <a:ext cx="10868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image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918051" y="2240280"/>
            <a:ext cx="137160" cy="0"/>
          </a:xfrm>
          <a:prstGeom prst="line">
            <a:avLst/>
          </a:prstGeom>
          <a:noFill/>
          <a:ln w="15875">
            <a:solidFill>
              <a:srgbClr val="5B6B74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8068927" y="1783080"/>
            <a:ext cx="1178270" cy="91440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/>
        </p:spPr>
      </p:sp>
      <p:sp>
        <p:nvSpPr>
          <p:cNvPr id="27" name="Shape 24"/>
          <p:cNvSpPr/>
          <p:nvPr/>
        </p:nvSpPr>
        <p:spPr>
          <a:xfrm>
            <a:off x="8511758" y="1527048"/>
            <a:ext cx="292608" cy="292608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511758" y="1527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8114647" y="1837944"/>
            <a:ext cx="10868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9260913" y="2240280"/>
            <a:ext cx="137160" cy="0"/>
          </a:xfrm>
          <a:prstGeom prst="line">
            <a:avLst/>
          </a:prstGeom>
          <a:noFill/>
          <a:ln w="15875">
            <a:solidFill>
              <a:srgbClr val="5B6B74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9411789" y="1783080"/>
            <a:ext cx="1178270" cy="91440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/>
        </p:spPr>
      </p:sp>
      <p:sp>
        <p:nvSpPr>
          <p:cNvPr id="32" name="Shape 29"/>
          <p:cNvSpPr/>
          <p:nvPr/>
        </p:nvSpPr>
        <p:spPr>
          <a:xfrm>
            <a:off x="9854619" y="1527048"/>
            <a:ext cx="292608" cy="292608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9854619" y="1527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9457509" y="1837944"/>
            <a:ext cx="10868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10603774" y="2240280"/>
            <a:ext cx="137160" cy="0"/>
          </a:xfrm>
          <a:prstGeom prst="line">
            <a:avLst/>
          </a:prstGeom>
          <a:noFill/>
          <a:ln w="15875">
            <a:solidFill>
              <a:srgbClr val="5B6B74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10754650" y="1783080"/>
            <a:ext cx="1178270" cy="91440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/>
        </p:spPr>
      </p:sp>
      <p:sp>
        <p:nvSpPr>
          <p:cNvPr id="37" name="Shape 34"/>
          <p:cNvSpPr/>
          <p:nvPr/>
        </p:nvSpPr>
        <p:spPr>
          <a:xfrm>
            <a:off x="11197481" y="1527048"/>
            <a:ext cx="292608" cy="292608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11197481" y="1527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800370" y="1837944"/>
            <a:ext cx="10868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manifest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(cd_back / _prod)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548640" y="370332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1C7293"/>
          </a:solidFill>
          <a:ln/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822192"/>
            <a:ext cx="502920" cy="502920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621792" y="437083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2697480" y="3749040"/>
            <a:ext cx="1402080" cy="91440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/>
        </p:spPr>
      </p:sp>
      <p:sp>
        <p:nvSpPr>
          <p:cNvPr id="44" name="Shape 40"/>
          <p:cNvSpPr/>
          <p:nvPr/>
        </p:nvSpPr>
        <p:spPr>
          <a:xfrm>
            <a:off x="3252216" y="349300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5" name="Text 41"/>
          <p:cNvSpPr txBox="1"/>
          <p:nvPr/>
        </p:nvSpPr>
        <p:spPr>
          <a:xfrm>
            <a:off x="3252216" y="3493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6" name="Text 42"/>
          <p:cNvSpPr txBox="1"/>
          <p:nvPr/>
        </p:nvSpPr>
        <p:spPr>
          <a:xfrm>
            <a:off x="2743200" y="3803904"/>
            <a:ext cx="131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 garde anti-boucle)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4113276" y="4206240"/>
            <a:ext cx="137160" cy="0"/>
          </a:xfrm>
          <a:prstGeom prst="line">
            <a:avLst/>
          </a:prstGeom>
          <a:noFill/>
          <a:ln w="15875">
            <a:solidFill>
              <a:srgbClr val="5B6B74"/>
            </a:solidFill>
            <a:prstDash val="solid"/>
            <a:tailEnd type="triangle"/>
          </a:ln>
        </p:spPr>
      </p:sp>
      <p:sp>
        <p:nvSpPr>
          <p:cNvPr id="48" name="Shape 44"/>
          <p:cNvSpPr/>
          <p:nvPr/>
        </p:nvSpPr>
        <p:spPr>
          <a:xfrm>
            <a:off x="4264152" y="3749040"/>
            <a:ext cx="1402080" cy="91440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/>
        </p:spPr>
      </p:sp>
      <p:sp>
        <p:nvSpPr>
          <p:cNvPr id="49" name="Shape 45"/>
          <p:cNvSpPr/>
          <p:nvPr/>
        </p:nvSpPr>
        <p:spPr>
          <a:xfrm>
            <a:off x="4818888" y="349300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0" name="Text 46"/>
          <p:cNvSpPr txBox="1"/>
          <p:nvPr/>
        </p:nvSpPr>
        <p:spPr>
          <a:xfrm>
            <a:off x="4818888" y="3493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1" name="Text 47"/>
          <p:cNvSpPr txBox="1"/>
          <p:nvPr/>
        </p:nvSpPr>
        <p:spPr>
          <a:xfrm>
            <a:off x="4309872" y="3803904"/>
            <a:ext cx="131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(npm build)</a:t>
            </a:r>
            <a:endParaRPr lang="en-US" sz="950" dirty="0"/>
          </a:p>
        </p:txBody>
      </p:sp>
      <p:sp>
        <p:nvSpPr>
          <p:cNvPr id="52" name="Shape 48"/>
          <p:cNvSpPr/>
          <p:nvPr/>
        </p:nvSpPr>
        <p:spPr>
          <a:xfrm>
            <a:off x="5679948" y="4206240"/>
            <a:ext cx="137160" cy="0"/>
          </a:xfrm>
          <a:prstGeom prst="line">
            <a:avLst/>
          </a:prstGeom>
          <a:noFill/>
          <a:ln w="15875">
            <a:solidFill>
              <a:srgbClr val="5B6B74"/>
            </a:solidFill>
            <a:prstDash val="solid"/>
            <a:tailEnd type="triangle"/>
          </a:ln>
        </p:spPr>
      </p:sp>
      <p:sp>
        <p:nvSpPr>
          <p:cNvPr id="53" name="Shape 49"/>
          <p:cNvSpPr/>
          <p:nvPr/>
        </p:nvSpPr>
        <p:spPr>
          <a:xfrm>
            <a:off x="5830824" y="3749040"/>
            <a:ext cx="1402080" cy="91440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/>
        </p:spPr>
      </p:sp>
      <p:sp>
        <p:nvSpPr>
          <p:cNvPr id="54" name="Shape 50"/>
          <p:cNvSpPr/>
          <p:nvPr/>
        </p:nvSpPr>
        <p:spPr>
          <a:xfrm>
            <a:off x="6385560" y="349300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5" name="Text 51"/>
          <p:cNvSpPr txBox="1"/>
          <p:nvPr/>
        </p:nvSpPr>
        <p:spPr>
          <a:xfrm>
            <a:off x="6385560" y="3493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6" name="Text 52"/>
          <p:cNvSpPr txBox="1"/>
          <p:nvPr/>
        </p:nvSpPr>
        <p:spPr>
          <a:xfrm>
            <a:off x="5876544" y="3803904"/>
            <a:ext cx="131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SonarCloud</a:t>
            </a:r>
            <a:endParaRPr lang="en-US" sz="950" dirty="0"/>
          </a:p>
        </p:txBody>
      </p:sp>
      <p:sp>
        <p:nvSpPr>
          <p:cNvPr id="57" name="Shape 53"/>
          <p:cNvSpPr/>
          <p:nvPr/>
        </p:nvSpPr>
        <p:spPr>
          <a:xfrm>
            <a:off x="7246620" y="4206240"/>
            <a:ext cx="137160" cy="0"/>
          </a:xfrm>
          <a:prstGeom prst="line">
            <a:avLst/>
          </a:prstGeom>
          <a:noFill/>
          <a:ln w="15875">
            <a:solidFill>
              <a:srgbClr val="5B6B74"/>
            </a:solidFill>
            <a:prstDash val="solid"/>
            <a:tailEnd type="triangle"/>
          </a:ln>
        </p:spPr>
      </p:sp>
      <p:sp>
        <p:nvSpPr>
          <p:cNvPr id="58" name="Shape 54"/>
          <p:cNvSpPr/>
          <p:nvPr/>
        </p:nvSpPr>
        <p:spPr>
          <a:xfrm>
            <a:off x="7397496" y="3749040"/>
            <a:ext cx="1402080" cy="91440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/>
        </p:spPr>
      </p:sp>
      <p:sp>
        <p:nvSpPr>
          <p:cNvPr id="59" name="Shape 55"/>
          <p:cNvSpPr/>
          <p:nvPr/>
        </p:nvSpPr>
        <p:spPr>
          <a:xfrm>
            <a:off x="7952232" y="349300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0" name="Text 56"/>
          <p:cNvSpPr txBox="1"/>
          <p:nvPr/>
        </p:nvSpPr>
        <p:spPr>
          <a:xfrm>
            <a:off x="7952232" y="3493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1" name="Text 57"/>
          <p:cNvSpPr txBox="1"/>
          <p:nvPr/>
        </p:nvSpPr>
        <p:spPr>
          <a:xfrm>
            <a:off x="7443216" y="3803904"/>
            <a:ext cx="131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push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Docker</a:t>
            </a:r>
            <a:endParaRPr lang="en-US" sz="950" dirty="0"/>
          </a:p>
        </p:txBody>
      </p:sp>
      <p:sp>
        <p:nvSpPr>
          <p:cNvPr id="62" name="Shape 58"/>
          <p:cNvSpPr/>
          <p:nvPr/>
        </p:nvSpPr>
        <p:spPr>
          <a:xfrm>
            <a:off x="8813292" y="4206240"/>
            <a:ext cx="137160" cy="0"/>
          </a:xfrm>
          <a:prstGeom prst="line">
            <a:avLst/>
          </a:prstGeom>
          <a:noFill/>
          <a:ln w="15875">
            <a:solidFill>
              <a:srgbClr val="5B6B74"/>
            </a:solidFill>
            <a:prstDash val="solid"/>
            <a:tailEnd type="triangle"/>
          </a:ln>
        </p:spPr>
      </p:sp>
      <p:sp>
        <p:nvSpPr>
          <p:cNvPr id="63" name="Shape 59"/>
          <p:cNvSpPr/>
          <p:nvPr/>
        </p:nvSpPr>
        <p:spPr>
          <a:xfrm>
            <a:off x="8964168" y="3749040"/>
            <a:ext cx="1402080" cy="91440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/>
        </p:spPr>
      </p:sp>
      <p:sp>
        <p:nvSpPr>
          <p:cNvPr id="64" name="Shape 60"/>
          <p:cNvSpPr/>
          <p:nvPr/>
        </p:nvSpPr>
        <p:spPr>
          <a:xfrm>
            <a:off x="9518904" y="349300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5" name="Text 61"/>
          <p:cNvSpPr txBox="1"/>
          <p:nvPr/>
        </p:nvSpPr>
        <p:spPr>
          <a:xfrm>
            <a:off x="9518904" y="3493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6" name="Text 62"/>
          <p:cNvSpPr txBox="1"/>
          <p:nvPr/>
        </p:nvSpPr>
        <p:spPr>
          <a:xfrm>
            <a:off x="9009888" y="3803904"/>
            <a:ext cx="131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</a:t>
            </a:r>
            <a:endParaRPr lang="en-US" sz="950" dirty="0"/>
          </a:p>
        </p:txBody>
      </p:sp>
      <p:sp>
        <p:nvSpPr>
          <p:cNvPr id="67" name="Shape 63"/>
          <p:cNvSpPr/>
          <p:nvPr/>
        </p:nvSpPr>
        <p:spPr>
          <a:xfrm>
            <a:off x="10379964" y="4206240"/>
            <a:ext cx="137160" cy="0"/>
          </a:xfrm>
          <a:prstGeom prst="line">
            <a:avLst/>
          </a:prstGeom>
          <a:noFill/>
          <a:ln w="15875">
            <a:solidFill>
              <a:srgbClr val="5B6B74"/>
            </a:solidFill>
            <a:prstDash val="solid"/>
            <a:tailEnd type="triangle"/>
          </a:ln>
        </p:spPr>
      </p:sp>
      <p:sp>
        <p:nvSpPr>
          <p:cNvPr id="68" name="Shape 64"/>
          <p:cNvSpPr/>
          <p:nvPr/>
        </p:nvSpPr>
        <p:spPr>
          <a:xfrm>
            <a:off x="10530840" y="3749040"/>
            <a:ext cx="1402080" cy="914400"/>
          </a:xfrm>
          <a:prstGeom prst="roundRect">
            <a:avLst>
              <a:gd name="adj" fmla="val 6000"/>
            </a:avLst>
          </a:prstGeom>
          <a:solidFill>
            <a:srgbClr val="EAF2F5"/>
          </a:solidFill>
          <a:ln/>
        </p:spPr>
      </p:sp>
      <p:sp>
        <p:nvSpPr>
          <p:cNvPr id="69" name="Shape 65"/>
          <p:cNvSpPr/>
          <p:nvPr/>
        </p:nvSpPr>
        <p:spPr>
          <a:xfrm>
            <a:off x="11085576" y="349300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0" name="Text 66"/>
          <p:cNvSpPr txBox="1"/>
          <p:nvPr/>
        </p:nvSpPr>
        <p:spPr>
          <a:xfrm>
            <a:off x="11085576" y="3493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71" name="Text 67"/>
          <p:cNvSpPr txBox="1"/>
          <p:nvPr/>
        </p:nvSpPr>
        <p:spPr>
          <a:xfrm>
            <a:off x="10576560" y="3803904"/>
            <a:ext cx="131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manifest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(cd_front / _prod)</a:t>
            </a:r>
            <a:endParaRPr lang="en-US" sz="950" dirty="0"/>
          </a:p>
        </p:txBody>
      </p:sp>
      <p:sp>
        <p:nvSpPr>
          <p:cNvPr id="72" name="Shape 68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DF1DC"/>
          </a:solidFill>
          <a:ln/>
          <a:effectLst>
            <a:outerShdw sx="100000" sy="100000" kx="0" ky="0" algn="bl" rotWithShape="0" blurRad="76200" dist="25400" dir="5400000">
              <a:srgbClr val="16425B">
                <a:alpha val="18000"/>
              </a:srgbClr>
            </a:outerShdw>
          </a:effectLst>
        </p:spPr>
      </p:sp>
      <p:sp>
        <p:nvSpPr>
          <p:cNvPr id="73" name="Text 69"/>
          <p:cNvSpPr txBox="1"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 anti-boucle : </a:t>
            </a:r>
            <a:pPr indent="0" marL="0">
              <a:buNone/>
            </a:pPr>
            <a:r>
              <a:rPr lang="en-US" sz="12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commit « ci: deploy … image » est détecté et stoppe le pipeline avant qu'il ne se redéclenche lui-même — même logique côté Jenkins et GitHub Actions.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Qualité du code et sécurité des images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pipelines appliquent exactement la même double vérification avant toute publication.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66360" cy="4297680"/>
          </a:xfrm>
          <a:prstGeom prst="roundRect">
            <a:avLst>
              <a:gd name="adj" fmla="val 1702"/>
            </a:avLst>
          </a:prstGeom>
          <a:solidFill>
            <a:srgbClr val="EAF2F5"/>
          </a:solidFill>
          <a:ln/>
          <a:effectLst>
            <a:outerShdw sx="100000" sy="100000" kx="0" ky="0" algn="bl" rotWithShape="0" blurRad="76200" dist="25400" dir="5400000">
              <a:srgbClr val="16425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822960" cy="822960"/>
          </a:xfrm>
          <a:prstGeom prst="ellipse">
            <a:avLst/>
          </a:prstGeom>
          <a:solidFill>
            <a:srgbClr val="0A3D6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2402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11680" y="21031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SonarCloud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200400"/>
            <a:ext cx="4526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statique à chaque build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bugs, vulnérabilités, code smells, duplication, couverture.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Sonar par application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hasalpcode_ProjetCiCD_SDV et un projet dédié pour le front.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1783080"/>
            <a:ext cx="5166360" cy="4297680"/>
          </a:xfrm>
          <a:prstGeom prst="roundRect">
            <a:avLst>
              <a:gd name="adj" fmla="val 1702"/>
            </a:avLst>
          </a:prstGeom>
          <a:solidFill>
            <a:srgbClr val="EAF2F5"/>
          </a:solidFill>
          <a:ln/>
          <a:effectLst>
            <a:outerShdw sx="100000" sy="100000" kx="0" ky="0" algn="bl" rotWithShape="0" blurRad="76200" dist="25400" dir="5400000">
              <a:srgbClr val="16425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103120"/>
            <a:ext cx="822960" cy="822960"/>
          </a:xfrm>
          <a:prstGeom prst="ellipse">
            <a:avLst/>
          </a:prstGeom>
          <a:solidFill>
            <a:srgbClr val="F6AE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2402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726680" y="21031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Trivy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675120" y="3200400"/>
            <a:ext cx="4526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de chaque image Docker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de CVE de sévérité HIGH et CRITICAL sur l'image buildée.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actuel : alerte, non bloquant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--exit-code 0 : le pipeline continue même si des CVE sont trouvées (visibles dans les logs).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GitOps : Git comme unique source de vérité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2194560"/>
            <a:ext cx="2205990" cy="1188720"/>
          </a:xfrm>
          <a:prstGeom prst="roundRect">
            <a:avLst>
              <a:gd name="adj" fmla="val 6154"/>
            </a:avLst>
          </a:prstGeom>
          <a:solidFill>
            <a:srgbClr val="0A3D6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7043" y="2359152"/>
            <a:ext cx="512064" cy="5120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3232" y="2907792"/>
            <a:ext cx="20596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/ GitHub Actions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891790" y="2788920"/>
            <a:ext cx="594360" cy="0"/>
          </a:xfrm>
          <a:prstGeom prst="line">
            <a:avLst/>
          </a:prstGeom>
          <a:noFill/>
          <a:ln w="28575">
            <a:solidFill>
              <a:srgbClr val="5B6B74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3531870" y="2194560"/>
            <a:ext cx="2205990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8833" y="2359152"/>
            <a:ext cx="512064" cy="5120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605022" y="2907792"/>
            <a:ext cx="20596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Git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cd_back(_prod) / cd_front(_prod)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783580" y="2788920"/>
            <a:ext cx="594360" cy="0"/>
          </a:xfrm>
          <a:prstGeom prst="line">
            <a:avLst/>
          </a:prstGeom>
          <a:noFill/>
          <a:ln w="28575">
            <a:solidFill>
              <a:srgbClr val="5B6B74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6423660" y="2194560"/>
            <a:ext cx="2205990" cy="1188720"/>
          </a:xfrm>
          <a:prstGeom prst="roundRect">
            <a:avLst>
              <a:gd name="adj" fmla="val 6154"/>
            </a:avLst>
          </a:prstGeom>
          <a:solidFill>
            <a:srgbClr val="16425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0623" y="2359152"/>
            <a:ext cx="512064" cy="51206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496812" y="2907792"/>
            <a:ext cx="20596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le dépôt en continu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8675370" y="2788920"/>
            <a:ext cx="594360" cy="0"/>
          </a:xfrm>
          <a:prstGeom prst="line">
            <a:avLst/>
          </a:prstGeom>
          <a:noFill/>
          <a:ln w="28575">
            <a:solidFill>
              <a:srgbClr val="5B6B74"/>
            </a:solidFill>
            <a:prstDash val="solid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9315450" y="2194560"/>
            <a:ext cx="2205990" cy="1188720"/>
          </a:xfrm>
          <a:prstGeom prst="roundRect">
            <a:avLst>
              <a:gd name="adj" fmla="val 6154"/>
            </a:avLst>
          </a:prstGeom>
          <a:solidFill>
            <a:srgbClr val="3BA99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2413" y="2359152"/>
            <a:ext cx="512064" cy="51206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388602" y="2907792"/>
            <a:ext cx="20596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k8s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réel appliqué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10418445" y="3474720"/>
            <a:ext cx="-2891790" cy="0"/>
          </a:xfrm>
          <a:prstGeom prst="line">
            <a:avLst/>
          </a:prstGeom>
          <a:noFill/>
          <a:ln w="22225">
            <a:solidFill>
              <a:srgbClr val="F6AE2D"/>
            </a:solidFill>
            <a:prstDash val="solid"/>
            <a:tailEnd type="triangle"/>
          </a:ln>
        </p:spPr>
      </p:sp>
      <p:sp>
        <p:nvSpPr>
          <p:cNvPr id="19" name="Text 13"/>
          <p:cNvSpPr txBox="1"/>
          <p:nvPr/>
        </p:nvSpPr>
        <p:spPr>
          <a:xfrm>
            <a:off x="7526655" y="3520440"/>
            <a:ext cx="2891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continue (self-heal)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40080" y="411480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EAF2F5"/>
          </a:solidFill>
          <a:ln/>
          <a:effectLst>
            <a:outerShdw sx="100000" sy="100000" kx="0" ky="0" algn="bl" rotWithShape="0" blurRad="76200" dist="25400" dir="5400000">
              <a:srgbClr val="16425B">
                <a:alpha val="18000"/>
              </a:srgbClr>
            </a:outerShdw>
          </a:effectLst>
        </p:spPr>
      </p:sp>
      <p:sp>
        <p:nvSpPr>
          <p:cNvPr id="21" name="Text 15"/>
          <p:cNvSpPr txBox="1"/>
          <p:nvPr/>
        </p:nvSpPr>
        <p:spPr>
          <a:xfrm>
            <a:off x="914400" y="411480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kubectl apply manuel  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build met à jour un tag d'image dans un fichier YAML versionné — c'est ce commit, pas une commande, qui déclenche le déploiement.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compare en permanence l'état déclaré (Git) et l'état réel du cluster, et corrige tout écart (selfHeal).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environnements, deux niveaux de confiance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57800" cy="685800"/>
          </a:xfrm>
          <a:prstGeom prst="roundRect">
            <a:avLst>
              <a:gd name="adj" fmla="val 9333"/>
            </a:avLst>
          </a:prstGeom>
          <a:solidFill>
            <a:srgbClr val="3BA99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630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37160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— synchronisation automatique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194560"/>
            <a:ext cx="5257800" cy="3840480"/>
          </a:xfrm>
          <a:prstGeom prst="roundRect">
            <a:avLst>
              <a:gd name="adj" fmla="val 1905"/>
            </a:avLst>
          </a:prstGeom>
          <a:solidFill>
            <a:srgbClr val="EAF2F5"/>
          </a:solidFill>
          <a:ln/>
          <a:effectLst>
            <a:outerShdw sx="100000" sy="100000" kx="0" ky="0" algn="bl" rotWithShape="0" blurRad="76200" dist="25400" dir="5400000">
              <a:srgbClr val="16425B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14400" y="2377440"/>
            <a:ext cx="4709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Cluster Kubernetes local (Docker Desktop)</a:t>
            </a:r>
            <a:endParaRPr lang="en-US" sz="1350" dirty="0"/>
          </a:p>
          <a:p>
            <a:pPr indent="0" marL="0">
              <a:buNone/>
            </a:pPr>
            <a:r>
              <a:rPr lang="en-US" sz="5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ArgoCD locale</a:t>
            </a:r>
            <a:endParaRPr lang="en-US" sz="1350" dirty="0"/>
          </a:p>
          <a:p>
            <a:pPr indent="0" marL="0">
              <a:buNone/>
            </a:pPr>
            <a:r>
              <a:rPr lang="en-US" sz="5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syncPolicy.automated (prune + selfHeal)</a:t>
            </a:r>
            <a:endParaRPr lang="en-US" sz="1350" dirty="0"/>
          </a:p>
          <a:p>
            <a:pPr indent="0" marL="0">
              <a:buNone/>
            </a:pPr>
            <a:r>
              <a:rPr lang="en-US" sz="5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Dossiers cd_back/ et cd_front/</a:t>
            </a:r>
            <a:endParaRPr lang="en-US" sz="1350" dirty="0"/>
          </a:p>
          <a:p>
            <a:pPr indent="0" marL="0">
              <a:buNone/>
            </a:pPr>
            <a:r>
              <a:rPr lang="en-US" sz="5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Déploiement immédiat à chaque build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3640" y="1371600"/>
            <a:ext cx="5257800" cy="685800"/>
          </a:xfrm>
          <a:prstGeom prst="roundRect">
            <a:avLst>
              <a:gd name="adj" fmla="val 9333"/>
            </a:avLst>
          </a:prstGeom>
          <a:solidFill>
            <a:srgbClr val="F6AE2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630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132320" y="137160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— synchronisation manuelle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263640" y="2194560"/>
            <a:ext cx="5257800" cy="3840480"/>
          </a:xfrm>
          <a:prstGeom prst="roundRect">
            <a:avLst>
              <a:gd name="adj" fmla="val 1905"/>
            </a:avLst>
          </a:prstGeom>
          <a:solidFill>
            <a:srgbClr val="EAF2F5"/>
          </a:solidFill>
          <a:ln/>
          <a:effectLst>
            <a:outerShdw sx="100000" sy="100000" kx="0" ky="0" algn="bl" rotWithShape="0" blurRad="76200" dist="25400" dir="5400000">
              <a:srgbClr val="16425B">
                <a:alpha val="18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6537960" y="2377440"/>
            <a:ext cx="4709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VPS avec k3s (Kubernetes léger)</a:t>
            </a:r>
            <a:endParaRPr lang="en-US" sz="1350" dirty="0"/>
          </a:p>
          <a:p>
            <a:pPr indent="0" marL="0">
              <a:buNone/>
            </a:pPr>
            <a:r>
              <a:rPr lang="en-US" sz="5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Instance ArgoCD dédiée, installée sur le VPS</a:t>
            </a:r>
            <a:endParaRPr lang="en-US" sz="1350" dirty="0"/>
          </a:p>
          <a:p>
            <a:pPr indent="0" marL="0">
              <a:buNone/>
            </a:pPr>
            <a:r>
              <a:rPr lang="en-US" sz="5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Pas de syncPolicy.automated</a:t>
            </a:r>
            <a:endParaRPr lang="en-US" sz="1350" dirty="0"/>
          </a:p>
          <a:p>
            <a:pPr indent="0" marL="0">
              <a:buNone/>
            </a:pPr>
            <a:r>
              <a:rPr lang="en-US" sz="5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Dossiers cd_back_prod/ et cd_front_prod/</a:t>
            </a:r>
            <a:endParaRPr lang="en-US" sz="1350" dirty="0"/>
          </a:p>
          <a:p>
            <a:pPr indent="0" marL="0">
              <a:buNone/>
            </a:pPr>
            <a:r>
              <a:rPr lang="en-US" sz="5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Passage en prod = clic « Sync » dans l'UI ArgoCD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une ArgoCD dédiée sur le VPS 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554480"/>
            <a:ext cx="1371600" cy="1371600"/>
          </a:xfrm>
          <a:prstGeom prst="ellipse">
            <a:avLst/>
          </a:prstGeom>
          <a:solidFill>
            <a:srgbClr val="1642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74520"/>
            <a:ext cx="731520" cy="731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423160" y="1417320"/>
            <a:ext cx="9144000" cy="1600200"/>
          </a:xfrm>
          <a:prstGeom prst="roundRect">
            <a:avLst>
              <a:gd name="adj" fmla="val 4571"/>
            </a:avLst>
          </a:prstGeom>
          <a:solidFill>
            <a:srgbClr val="FDEBEA"/>
          </a:solidFill>
          <a:ln/>
          <a:effectLst>
            <a:outerShdw sx="100000" sy="100000" kx="0" ky="0" algn="bl" rotWithShape="0" blurRad="76200" dist="25400" dir="5400000">
              <a:srgbClr val="16425B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2697480" y="1417320"/>
            <a:ext cx="8595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écartée  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ArgoCD locale pilotant aussi le cluster du VPS → il aurait fallu exposer l'API Kubernetes du VPS (port 6443) sur Internet, même filtrée par IP.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423160" y="3246120"/>
            <a:ext cx="9144000" cy="1600200"/>
          </a:xfrm>
          <a:prstGeom prst="roundRect">
            <a:avLst>
              <a:gd name="adj" fmla="val 4571"/>
            </a:avLst>
          </a:prstGeom>
          <a:solidFill>
            <a:srgbClr val="E8F6EF"/>
          </a:solidFill>
          <a:ln/>
          <a:effectLst>
            <a:outerShdw sx="100000" sy="100000" kx="0" ky="0" algn="bl" rotWithShape="0" blurRad="76200" dist="25400" dir="5400000">
              <a:srgbClr val="16425B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2697480" y="3246120"/>
            <a:ext cx="8595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retenue  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instance ArgoCD par cluster → l'API Kubernetes du VPS reste privée, jamais exposée publiquement.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423160" y="5074920"/>
            <a:ext cx="9144000" cy="960120"/>
          </a:xfrm>
          <a:prstGeom prst="roundRect">
            <a:avLst>
              <a:gd name="adj" fmla="val 7619"/>
            </a:avLst>
          </a:prstGeom>
          <a:solidFill>
            <a:srgbClr val="EAF2F5"/>
          </a:solidFill>
          <a:ln/>
          <a:effectLst>
            <a:outerShdw sx="100000" sy="100000" kx="0" ky="0" algn="bl" rotWithShape="0" blurRad="76200" dist="25400" dir="5400000">
              <a:srgbClr val="16425B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2697480" y="5074920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 accepté : </a:t>
            </a:r>
            <a:pPr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interfaces ArgoCD séparées (dev / prod) plutôt qu'une vue unifiée.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Vue d'ensemble de l'infra, de bout en bout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5B6B7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087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325880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2560320" y="1760220"/>
            <a:ext cx="320040" cy="0"/>
          </a:xfrm>
          <a:prstGeom prst="line">
            <a:avLst/>
          </a:prstGeom>
          <a:noFill/>
          <a:ln w="25400">
            <a:solidFill>
              <a:srgbClr val="5B6B74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2971800" y="1325880"/>
            <a:ext cx="2194560" cy="868680"/>
          </a:xfrm>
          <a:prstGeom prst="roundRect">
            <a:avLst>
              <a:gd name="adj" fmla="val 6316"/>
            </a:avLst>
          </a:prstGeom>
          <a:solidFill>
            <a:srgbClr val="0A3D6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528" y="1508760"/>
            <a:ext cx="502920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657600" y="132588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257800" y="1760220"/>
            <a:ext cx="320040" cy="0"/>
          </a:xfrm>
          <a:prstGeom prst="line">
            <a:avLst/>
          </a:prstGeom>
          <a:noFill/>
          <a:ln w="25400">
            <a:solidFill>
              <a:srgbClr val="5B6B74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5669280" y="1325880"/>
            <a:ext cx="3017520" cy="868680"/>
          </a:xfrm>
          <a:prstGeom prst="roundRect">
            <a:avLst>
              <a:gd name="adj" fmla="val 6316"/>
            </a:avLst>
          </a:prstGeom>
          <a:solidFill>
            <a:srgbClr val="1C729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150876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355080" y="13258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+ GH Actions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8778240" y="1760220"/>
            <a:ext cx="320040" cy="0"/>
          </a:xfrm>
          <a:prstGeom prst="line">
            <a:avLst/>
          </a:prstGeom>
          <a:noFill/>
          <a:ln w="25400">
            <a:solidFill>
              <a:srgbClr val="5B6B74"/>
            </a:solidFill>
            <a:prstDash val="solid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9189720" y="1325880"/>
            <a:ext cx="2468880" cy="868680"/>
          </a:xfrm>
          <a:prstGeom prst="roundRect">
            <a:avLst>
              <a:gd name="adj" fmla="val 6316"/>
            </a:avLst>
          </a:prstGeom>
          <a:solidFill>
            <a:srgbClr val="16425B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9448" y="150876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875520" y="13258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4023360" y="2240280"/>
            <a:ext cx="0" cy="457200"/>
          </a:xfrm>
          <a:prstGeom prst="line">
            <a:avLst/>
          </a:prstGeom>
          <a:noFill/>
          <a:ln w="25400">
            <a:solidFill>
              <a:srgbClr val="F6AE2D"/>
            </a:solidFill>
            <a:prstDash val="solid"/>
            <a:tailEnd type="triangle"/>
          </a:ln>
        </p:spPr>
      </p:sp>
      <p:sp>
        <p:nvSpPr>
          <p:cNvPr id="19" name="Text 13"/>
          <p:cNvSpPr txBox="1"/>
          <p:nvPr/>
        </p:nvSpPr>
        <p:spPr>
          <a:xfrm>
            <a:off x="4251960" y="23042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auto du tag d'image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2971800" y="2880360"/>
            <a:ext cx="2194560" cy="731520"/>
          </a:xfrm>
          <a:prstGeom prst="roundRect">
            <a:avLst>
              <a:gd name="adj" fmla="val 7500"/>
            </a:avLst>
          </a:prstGeom>
          <a:solidFill>
            <a:srgbClr val="0A3D6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1528" y="2999232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584448" y="288036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cd_back(_prod)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cd_front(_prod)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3566160" y="3639312"/>
            <a:ext cx="-1371600" cy="521208"/>
          </a:xfrm>
          <a:prstGeom prst="line">
            <a:avLst/>
          </a:prstGeom>
          <a:noFill/>
          <a:ln w="25400">
            <a:solidFill>
              <a:srgbClr val="3BA99C"/>
            </a:solidFill>
            <a:prstDash val="solid"/>
            <a:tailEnd type="triangle"/>
          </a:ln>
        </p:spPr>
      </p:sp>
      <p:sp>
        <p:nvSpPr>
          <p:cNvPr id="24" name="Shape 17"/>
          <p:cNvSpPr/>
          <p:nvPr/>
        </p:nvSpPr>
        <p:spPr>
          <a:xfrm>
            <a:off x="4572000" y="3639312"/>
            <a:ext cx="2651760" cy="521208"/>
          </a:xfrm>
          <a:prstGeom prst="line">
            <a:avLst/>
          </a:prstGeom>
          <a:noFill/>
          <a:ln w="25400">
            <a:solidFill>
              <a:srgbClr val="F6AE2D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640080" y="4251960"/>
            <a:ext cx="3108960" cy="777240"/>
          </a:xfrm>
          <a:prstGeom prst="roundRect">
            <a:avLst>
              <a:gd name="adj" fmla="val 7059"/>
            </a:avLst>
          </a:prstGeom>
          <a:solidFill>
            <a:srgbClr val="3BA99C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379976"/>
            <a:ext cx="512064" cy="51206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417320" y="42519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dev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6355080" y="4251960"/>
            <a:ext cx="3108960" cy="777240"/>
          </a:xfrm>
          <a:prstGeom prst="roundRect">
            <a:avLst>
              <a:gd name="adj" fmla="val 7059"/>
            </a:avLst>
          </a:prstGeom>
          <a:solidFill>
            <a:srgbClr val="F6AE2D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4379976"/>
            <a:ext cx="512064" cy="51206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132320" y="42519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prod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manuel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2194560" y="5047488"/>
            <a:ext cx="0" cy="393192"/>
          </a:xfrm>
          <a:prstGeom prst="line">
            <a:avLst/>
          </a:prstGeom>
          <a:noFill/>
          <a:ln w="25400">
            <a:solidFill>
              <a:srgbClr val="3BA99C"/>
            </a:solidFill>
            <a:prstDash val="solid"/>
            <a:tailEnd type="triangle"/>
          </a:ln>
        </p:spPr>
      </p:sp>
      <p:sp>
        <p:nvSpPr>
          <p:cNvPr id="32" name="Shape 23"/>
          <p:cNvSpPr/>
          <p:nvPr/>
        </p:nvSpPr>
        <p:spPr>
          <a:xfrm>
            <a:off x="7909560" y="5047488"/>
            <a:ext cx="0" cy="393192"/>
          </a:xfrm>
          <a:prstGeom prst="line">
            <a:avLst/>
          </a:prstGeom>
          <a:noFill/>
          <a:ln w="25400">
            <a:solidFill>
              <a:srgbClr val="F6AE2D"/>
            </a:solidFill>
            <a:prstDash val="solid"/>
            <a:tailEnd type="triangle"/>
          </a:ln>
        </p:spPr>
      </p:sp>
      <p:sp>
        <p:nvSpPr>
          <p:cNvPr id="33" name="Shape 24"/>
          <p:cNvSpPr/>
          <p:nvPr/>
        </p:nvSpPr>
        <p:spPr>
          <a:xfrm>
            <a:off x="640080" y="5486400"/>
            <a:ext cx="3108960" cy="1188720"/>
          </a:xfrm>
          <a:prstGeom prst="roundRect">
            <a:avLst>
              <a:gd name="adj" fmla="val 5385"/>
            </a:avLst>
          </a:prstGeom>
          <a:solidFill>
            <a:srgbClr val="EAF2F5"/>
          </a:solidFill>
          <a:ln w="19050">
            <a:solidFill>
              <a:srgbClr val="3BA99C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5632704"/>
            <a:ext cx="457200" cy="45720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1371600" y="5614416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local (Docker Desktop)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todo-front · todo-api · mysql-db</a:t>
            </a:r>
            <a:endParaRPr lang="en-US" sz="1100" dirty="0"/>
          </a:p>
        </p:txBody>
      </p:sp>
      <p:sp>
        <p:nvSpPr>
          <p:cNvPr id="36" name="Shape 26"/>
          <p:cNvSpPr/>
          <p:nvPr/>
        </p:nvSpPr>
        <p:spPr>
          <a:xfrm>
            <a:off x="6355080" y="5486400"/>
            <a:ext cx="3108960" cy="1188720"/>
          </a:xfrm>
          <a:prstGeom prst="roundRect">
            <a:avLst>
              <a:gd name="adj" fmla="val 5385"/>
            </a:avLst>
          </a:prstGeom>
          <a:solidFill>
            <a:srgbClr val="EAF2F5"/>
          </a:solidFill>
          <a:ln w="19050">
            <a:solidFill>
              <a:srgbClr val="F6AE2D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5632704"/>
            <a:ext cx="457200" cy="45720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6903720" y="5614416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— cluster k3s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todo-front · todo-api · mysql-db</a:t>
            </a:r>
            <a:endParaRPr lang="en-US" sz="1100" dirty="0"/>
          </a:p>
        </p:txBody>
      </p:sp>
      <p:sp>
        <p:nvSpPr>
          <p:cNvPr id="39" name="Shape 28"/>
          <p:cNvSpPr/>
          <p:nvPr/>
        </p:nvSpPr>
        <p:spPr>
          <a:xfrm>
            <a:off x="9966960" y="2880360"/>
            <a:ext cx="1691640" cy="37947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7E3E8"/>
            </a:solidFill>
            <a:prstDash val="solid"/>
          </a:ln>
          <a:effectLst>
            <a:outerShdw sx="100000" sy="100000" kx="0" ky="0" algn="bl" rotWithShape="0" blurRad="76200" dist="25400" dir="5400000">
              <a:srgbClr val="16425B">
                <a:alpha val="18000"/>
              </a:srgbClr>
            </a:outerShdw>
          </a:effectLst>
        </p:spPr>
      </p:sp>
      <p:sp>
        <p:nvSpPr>
          <p:cNvPr id="40" name="Text 29"/>
          <p:cNvSpPr txBox="1"/>
          <p:nvPr/>
        </p:nvSpPr>
        <p:spPr>
          <a:xfrm>
            <a:off x="10104120" y="3017520"/>
            <a:ext cx="1463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Légende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3B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vert : flux dev (auto)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ambre : flux prod (manuel)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nous allons montrer en direct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3BA99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9844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sur main → déclenchement automatique de Jenkins et/ou GitHub Actions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578608"/>
            <a:ext cx="457200" cy="457200"/>
          </a:xfrm>
          <a:prstGeom prst="ellipse">
            <a:avLst/>
          </a:prstGeom>
          <a:solidFill>
            <a:srgbClr val="3BA99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505456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(Maven / npm) puis analyse SonarCloud du code modifié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785616"/>
            <a:ext cx="457200" cy="457200"/>
          </a:xfrm>
          <a:prstGeom prst="ellipse">
            <a:avLst/>
          </a:prstGeom>
          <a:solidFill>
            <a:srgbClr val="3BA99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712464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Trivy de l'image Docker buildée (CVE HIGH / CRITICAL)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992624"/>
            <a:ext cx="457200" cy="457200"/>
          </a:xfrm>
          <a:prstGeom prst="ellipse">
            <a:avLst/>
          </a:prstGeom>
          <a:solidFill>
            <a:srgbClr val="3BA99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992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919472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poussée sur Docker Hub avec un nouveau tag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9360" y="1371600"/>
            <a:ext cx="457200" cy="457200"/>
          </a:xfrm>
          <a:prstGeom prst="ellipse">
            <a:avLst/>
          </a:prstGeom>
          <a:solidFill>
            <a:srgbClr val="3BA99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093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129844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automatique du tag dans cd_back(_prod) et/ou cd_front(_prod)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09360" y="2578608"/>
            <a:ext cx="457200" cy="457200"/>
          </a:xfrm>
          <a:prstGeom prst="ellipse">
            <a:avLst/>
          </a:prstGeom>
          <a:solidFill>
            <a:srgbClr val="3BA99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936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2505456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(dev) détecte le changement et passe en Synced automatiquement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09360" y="3785616"/>
            <a:ext cx="457200" cy="457200"/>
          </a:xfrm>
          <a:prstGeom prst="ellipse">
            <a:avLst/>
          </a:prstGeom>
          <a:solidFill>
            <a:srgbClr val="F6AE2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09360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3712464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(prod) reste en OutOfSync → clic manuel sur « Sync »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4992624"/>
            <a:ext cx="457200" cy="457200"/>
          </a:xfrm>
          <a:prstGeom prst="ellipse">
            <a:avLst/>
          </a:prstGeom>
          <a:solidFill>
            <a:srgbClr val="F6AE2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09360" y="4992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4919472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accessible de bout en bout (front NodePort 30081 → API)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actuelles et prochaines étapes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EAF2F5"/>
          </a:solidFill>
          <a:ln/>
          <a:effectLst>
            <a:outerShdw sx="100000" sy="100000" kx="0" ky="0" algn="bl" rotWithShape="0" blurRad="76200" dist="25400" dir="5400000">
              <a:srgbClr val="16425B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1645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Aujourd'hui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94560"/>
            <a:ext cx="4709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Trivy et SonarCloud sont informatifs, pas bloquants (exit-code 0)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Une seule réplique par service, pas d'auto-scaling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Pas d'ingress / HTTPS devant le NodePort du VPS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Deux UI ArgoCD séparées (dev / prod), pas de vue unifiée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41732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E8F6EF"/>
          </a:solidFill>
          <a:ln/>
          <a:effectLst>
            <a:outerShdw sx="100000" sy="100000" kx="0" ky="0" algn="bl" rotWithShape="0" blurRad="76200" dist="25400" dir="5400000">
              <a:srgbClr val="16425B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37960" y="1645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Prochaines étapes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194560"/>
            <a:ext cx="4709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Rendre Trivy et Sonar bloquants avant la prod (seuils qualité)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Ingress + TLS (Let's Encrypt) sur le cluster VPS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Monitoring / alerting sur les deux clusters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Tests automatisés (unitaires + intégration) dans les pipelines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969264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— Questions ?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0332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github.com/hasalpcode/ProjetCiCD_SDV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Docker Hub  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hasalpcode/projet_ci_cd_sdv  (back)   ·   hasalpcode/projet_ci_cd_sdv-front  (front)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Mamadou Hachimiou Diallo</a:t>
            </a:r>
            <a:pPr indent="0" marL="0">
              <a:buNone/>
            </a:pPr>
            <a:r>
              <a:rPr lang="en-US" sz="1400" dirty="0">
                <a:solidFill>
                  <a:srgbClr val="6B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Sadio Diallo</a:t>
            </a:r>
            <a:endParaRPr lang="en-US" sz="1400" dirty="0"/>
          </a:p>
        </p:txBody>
      </p:sp>
      <p:sp>
        <p:nvSpPr>
          <p:cNvPr id="6" name="icon-circle"/>
          <p:cNvSpPr/>
          <p:nvPr/>
        </p:nvSpPr>
        <p:spPr>
          <a:xfrm>
            <a:off x="9418320" y="22860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4" y="2523744"/>
            <a:ext cx="438912" cy="438912"/>
          </a:xfrm>
          <a:prstGeom prst="rect">
            <a:avLst/>
          </a:prstGeom>
        </p:spPr>
      </p:pic>
      <p:sp>
        <p:nvSpPr>
          <p:cNvPr id="8" name="icon-circle"/>
          <p:cNvSpPr/>
          <p:nvPr/>
        </p:nvSpPr>
        <p:spPr>
          <a:xfrm>
            <a:off x="10561320" y="3154680"/>
            <a:ext cx="868680" cy="868680"/>
          </a:xfrm>
          <a:prstGeom prst="ellipse">
            <a:avLst/>
          </a:prstGeom>
          <a:solidFill>
            <a:srgbClr val="F6AE2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9064" y="3392424"/>
            <a:ext cx="393192" cy="393192"/>
          </a:xfrm>
          <a:prstGeom prst="rect">
            <a:avLst/>
          </a:prstGeom>
        </p:spPr>
      </p:pic>
      <p:sp>
        <p:nvSpPr>
          <p:cNvPr id="10" name="icon-circle"/>
          <p:cNvSpPr/>
          <p:nvPr/>
        </p:nvSpPr>
        <p:spPr>
          <a:xfrm>
            <a:off x="9646920" y="4069080"/>
            <a:ext cx="777240" cy="777240"/>
          </a:xfrm>
          <a:prstGeom prst="ellipse">
            <a:avLst/>
          </a:prstGeom>
          <a:solidFill>
            <a:srgbClr val="3BA99C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4" y="4306824"/>
            <a:ext cx="301752" cy="3017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I_CD_Infra">
  <a:themeElements>
    <a:clrScheme name="CI_CD_Infra">
      <a:dk1>
        <a:srgbClr val="15202B"/>
      </a:dk1>
      <a:lt1>
        <a:srgbClr val="FFFFFF"/>
      </a:lt1>
      <a:dk2>
        <a:srgbClr val="FFFFFF"/>
      </a:dk2>
      <a:lt2>
        <a:srgbClr val="0A3D62"/>
      </a:lt2>
      <a:accent1>
        <a:srgbClr val="0A3D62"/>
      </a:accent1>
      <a:accent2>
        <a:srgbClr val="1C7293"/>
      </a:accent2>
      <a:accent3>
        <a:srgbClr val="F6AE2D"/>
      </a:accent3>
      <a:accent4>
        <a:srgbClr val="2E86AB"/>
      </a:accent4>
      <a:accent5>
        <a:srgbClr val="3BA99C"/>
      </a:accent5>
      <a:accent6>
        <a:srgbClr val="16425B"/>
      </a:accent6>
      <a:hlink>
        <a:srgbClr val="1C7293"/>
      </a:hlink>
      <a:folHlink>
        <a:srgbClr val="0A3D62"/>
      </a:folHlink>
    </a:clrScheme>
    <a:fontScheme name="CI_CD_Infr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2026-10-29T15:11:15Z</dcterms:created>
  <dcterms:modified xsi:type="dcterms:W3CDTF">2026-10-29T15:11:15Z</dcterms:modified>
</cp:coreProperties>
</file>